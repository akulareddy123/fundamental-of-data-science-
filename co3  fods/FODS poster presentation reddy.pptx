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10640-0FE0-46EB-B087-B1A1933C92B1}" v="6" dt="2026-08-18T08:53:5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a reddy prasad" userId="6c627b2b800d699e" providerId="LiveId" clId="{93796F71-712A-40B6-BF5C-1F9D3D39DD1F}"/>
    <pc:docChg chg="undo custSel modSld">
      <pc:chgData name="akula reddy prasad" userId="6c627b2b800d699e" providerId="LiveId" clId="{93796F71-712A-40B6-BF5C-1F9D3D39DD1F}" dt="2026-08-18T09:19:07.911" v="85" actId="2711"/>
      <pc:docMkLst>
        <pc:docMk/>
      </pc:docMkLst>
      <pc:sldChg chg="addSp delSp modSp mod">
        <pc:chgData name="akula reddy prasad" userId="6c627b2b800d699e" providerId="LiveId" clId="{93796F71-712A-40B6-BF5C-1F9D3D39DD1F}" dt="2026-08-18T09:19:07.911" v="85" actId="2711"/>
        <pc:sldMkLst>
          <pc:docMk/>
          <pc:sldMk cId="0" sldId="256"/>
        </pc:sldMkLst>
        <pc:spChg chg="mod">
          <ac:chgData name="akula reddy prasad" userId="6c627b2b800d699e" providerId="LiveId" clId="{93796F71-712A-40B6-BF5C-1F9D3D39DD1F}" dt="2026-08-18T09:19:07.911" v="85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9:15:19.105" v="83" actId="113"/>
          <ac:spMkLst>
            <pc:docMk/>
            <pc:sldMk cId="0" sldId="256"/>
            <ac:spMk id="6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6:35.087" v="1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6:39.108" v="3" actId="40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6:43.200" v="5" actId="40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7:02.687" v="11" actId="403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9:36.011" v="26" actId="40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9:39.931" v="27" actId="403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9:45.185" v="28" actId="403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9:48.711" v="29" actId="403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9:52.571" v="30" actId="403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6:51.355" v="8" actId="40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52:03.093" v="33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54:17.865" v="59" actId="313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9:16:15.674" v="84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7:21.223" v="13" actId="403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7:33.587" v="14" actId="403"/>
          <ac:spMkLst>
            <pc:docMk/>
            <pc:sldMk cId="0" sldId="256"/>
            <ac:spMk id="116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7:14.960" v="12" actId="403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47:38.139" v="15" actId="403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akula reddy prasad" userId="6c627b2b800d699e" providerId="LiveId" clId="{93796F71-712A-40B6-BF5C-1F9D3D39DD1F}" dt="2026-08-18T08:52:22.452" v="34" actId="123"/>
          <ac:spMkLst>
            <pc:docMk/>
            <pc:sldMk cId="0" sldId="256"/>
            <ac:spMk id="130" creationId="{00000000-0000-0000-0000-000000000000}"/>
          </ac:spMkLst>
        </pc:spChg>
        <pc:picChg chg="mod">
          <ac:chgData name="akula reddy prasad" userId="6c627b2b800d699e" providerId="LiveId" clId="{93796F71-712A-40B6-BF5C-1F9D3D39DD1F}" dt="2026-08-18T08:48:31.619" v="19" actId="1076"/>
          <ac:picMkLst>
            <pc:docMk/>
            <pc:sldMk cId="0" sldId="256"/>
            <ac:picMk id="140" creationId="{E5AD54B9-204A-6EAD-8B27-0AF995BA0602}"/>
          </ac:picMkLst>
        </pc:picChg>
        <pc:picChg chg="mod">
          <ac:chgData name="akula reddy prasad" userId="6c627b2b800d699e" providerId="LiveId" clId="{93796F71-712A-40B6-BF5C-1F9D3D39DD1F}" dt="2026-08-18T08:48:48.113" v="22" actId="14100"/>
          <ac:picMkLst>
            <pc:docMk/>
            <pc:sldMk cId="0" sldId="256"/>
            <ac:picMk id="143" creationId="{18BD5B4E-9E91-43BC-845C-EEC753D6127F}"/>
          </ac:picMkLst>
        </pc:picChg>
        <pc:cxnChg chg="add del mod">
          <ac:chgData name="akula reddy prasad" userId="6c627b2b800d699e" providerId="LiveId" clId="{93796F71-712A-40B6-BF5C-1F9D3D39DD1F}" dt="2026-08-18T08:49:26.650" v="25" actId="478"/>
          <ac:cxnSpMkLst>
            <pc:docMk/>
            <pc:sldMk cId="0" sldId="256"/>
            <ac:cxnSpMk id="145" creationId="{E5B173C1-93B9-ABBE-01E4-C3196C358F72}"/>
          </ac:cxnSpMkLst>
        </pc:cxnChg>
        <pc:cxnChg chg="add">
          <ac:chgData name="akula reddy prasad" userId="6c627b2b800d699e" providerId="LiveId" clId="{93796F71-712A-40B6-BF5C-1F9D3D39DD1F}" dt="2026-08-18T08:54:38.277" v="60" actId="11529"/>
          <ac:cxnSpMkLst>
            <pc:docMk/>
            <pc:sldMk cId="0" sldId="256"/>
            <ac:cxnSpMk id="148" creationId="{0621034F-A84C-7129-EA2F-5730401B9AE0}"/>
          </ac:cxnSpMkLst>
        </pc:cxnChg>
        <pc:cxnChg chg="add mod">
          <ac:chgData name="akula reddy prasad" userId="6c627b2b800d699e" providerId="LiveId" clId="{93796F71-712A-40B6-BF5C-1F9D3D39DD1F}" dt="2026-08-18T08:54:57.068" v="62" actId="14100"/>
          <ac:cxnSpMkLst>
            <pc:docMk/>
            <pc:sldMk cId="0" sldId="256"/>
            <ac:cxnSpMk id="150" creationId="{C1C85CA9-C0C1-6501-2A77-721EA370E79A}"/>
          </ac:cxnSpMkLst>
        </pc:cxnChg>
        <pc:cxnChg chg="add del mod">
          <ac:chgData name="akula reddy prasad" userId="6c627b2b800d699e" providerId="LiveId" clId="{93796F71-712A-40B6-BF5C-1F9D3D39DD1F}" dt="2026-08-18T08:55:25.642" v="65" actId="478"/>
          <ac:cxnSpMkLst>
            <pc:docMk/>
            <pc:sldMk cId="0" sldId="256"/>
            <ac:cxnSpMk id="153" creationId="{922F1C87-693C-0458-26E1-A7EF003DE6B1}"/>
          </ac:cxnSpMkLst>
        </pc:cxnChg>
        <pc:cxnChg chg="add del mod">
          <ac:chgData name="akula reddy prasad" userId="6c627b2b800d699e" providerId="LiveId" clId="{93796F71-712A-40B6-BF5C-1F9D3D39DD1F}" dt="2026-08-18T08:56:06.738" v="70" actId="478"/>
          <ac:cxnSpMkLst>
            <pc:docMk/>
            <pc:sldMk cId="0" sldId="256"/>
            <ac:cxnSpMk id="156" creationId="{68002588-B6F6-DE59-E3B9-B9A39C73669D}"/>
          </ac:cxnSpMkLst>
        </pc:cxnChg>
        <pc:cxnChg chg="add mod">
          <ac:chgData name="akula reddy prasad" userId="6c627b2b800d699e" providerId="LiveId" clId="{93796F71-712A-40B6-BF5C-1F9D3D39DD1F}" dt="2026-08-18T08:56:01.391" v="69" actId="14100"/>
          <ac:cxnSpMkLst>
            <pc:docMk/>
            <pc:sldMk cId="0" sldId="256"/>
            <ac:cxnSpMk id="159" creationId="{043F51E7-DA28-27B1-58D8-AC9FFC6802D5}"/>
          </ac:cxnSpMkLst>
        </pc:cxnChg>
        <pc:cxnChg chg="add mod">
          <ac:chgData name="akula reddy prasad" userId="6c627b2b800d699e" providerId="LiveId" clId="{93796F71-712A-40B6-BF5C-1F9D3D39DD1F}" dt="2026-08-18T08:56:16.826" v="72" actId="14100"/>
          <ac:cxnSpMkLst>
            <pc:docMk/>
            <pc:sldMk cId="0" sldId="256"/>
            <ac:cxnSpMk id="162" creationId="{0B4698DD-4B27-FE8A-4963-FC779E21CC7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31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109728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Comparative Study of Data Distribution Before and After Outlier Treatment</a:t>
            </a:r>
            <a:endParaRPr lang="en-US" sz="2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9655" y="724662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Name: A.Reddy Prasad || Reg no: 192472045 || Course code: DSA0405  ||  </a:t>
            </a:r>
            <a:r>
              <a:rPr lang="en-IN" sz="11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Course Name : Fundamentals of Data Science | | </a:t>
            </a:r>
            <a:r>
              <a:rPr lang="en-US" sz="1100" b="1" dirty="0">
                <a:solidFill>
                  <a:schemeClr val="bg1"/>
                </a:solidFill>
                <a:latin typeface="+mj-lt"/>
              </a:rPr>
              <a:t>Guided by: Krishna Raj M</a:t>
            </a:r>
            <a:endParaRPr lang="en-IN" sz="11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IN" sz="11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en-US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09960" y="164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23560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097280"/>
            <a:ext cx="5404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1752600" cy="237744"/>
          </a:xfrm>
          <a:prstGeom prst="roundRect">
            <a:avLst>
              <a:gd name="adj" fmla="val 15385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554480"/>
            <a:ext cx="1752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1847088"/>
            <a:ext cx="175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distort mean,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&amp; shape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distributions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they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affect analysis?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09800" y="1554480"/>
            <a:ext cx="175260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09800" y="1554480"/>
            <a:ext cx="1752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09800" y="1847088"/>
            <a:ext cx="175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distributions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stats + visuals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quantify change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08120" y="1554480"/>
            <a:ext cx="1752600" cy="237744"/>
          </a:xfrm>
          <a:prstGeom prst="roundRect">
            <a:avLst>
              <a:gd name="adj" fmla="val 15385"/>
            </a:avLst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008120" y="1554480"/>
            <a:ext cx="1752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08120" y="1847088"/>
            <a:ext cx="175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drives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ML models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 is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preprocessing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 any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5788152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36208" y="1097280"/>
            <a:ext cx="5568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57881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63640" y="153619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0" y="1536192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Housing &amp; Sales dataset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176022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1760220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25,000 rows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19842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0" y="1984248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Area, Income, Age,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22082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method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208276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&amp; Z-score (|z| &gt; 3)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450592"/>
            <a:ext cx="5513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521458"/>
            <a:ext cx="5513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with IQR / Z-score</a:t>
            </a:r>
            <a:endParaRPr lang="en-US" sz="9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trim or transform extreme values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5623560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3063240"/>
            <a:ext cx="5404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7525" y="3429000"/>
            <a:ext cx="5623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11480" y="3520440"/>
            <a:ext cx="1014984" cy="566928"/>
          </a:xfrm>
          <a:prstGeom prst="roundRect">
            <a:avLst>
              <a:gd name="adj" fmla="val 8065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11480" y="3547872"/>
            <a:ext cx="1014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3721608"/>
            <a:ext cx="10149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99616" y="3520440"/>
            <a:ext cx="1014984" cy="566928"/>
          </a:xfrm>
          <a:prstGeom prst="roundRect">
            <a:avLst>
              <a:gd name="adj" fmla="val 80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499616" y="3547872"/>
            <a:ext cx="1014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99616" y="3721608"/>
            <a:ext cx="10149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87752" y="3520440"/>
            <a:ext cx="1014984" cy="566928"/>
          </a:xfrm>
          <a:prstGeom prst="roundRect">
            <a:avLst>
              <a:gd name="adj" fmla="val 8065"/>
            </a:avLst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87752" y="3547872"/>
            <a:ext cx="1014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87752" y="3721608"/>
            <a:ext cx="10149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75888" y="3520440"/>
            <a:ext cx="1014984" cy="566928"/>
          </a:xfrm>
          <a:prstGeom prst="roundRect">
            <a:avLst>
              <a:gd name="adj" fmla="val 8065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675888" y="3547872"/>
            <a:ext cx="1014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75888" y="3721608"/>
            <a:ext cx="10149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64024" y="3520440"/>
            <a:ext cx="1014984" cy="566928"/>
          </a:xfrm>
          <a:prstGeom prst="roundRect">
            <a:avLst>
              <a:gd name="adj" fmla="val 8065"/>
            </a:avLst>
          </a:prstGeom>
          <a:solidFill>
            <a:srgbClr val="7A4E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764024" y="3547872"/>
            <a:ext cx="1014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64024" y="3721608"/>
            <a:ext cx="10149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" y="4206240"/>
            <a:ext cx="2583180" cy="822960"/>
          </a:xfrm>
          <a:prstGeom prst="roundRect">
            <a:avLst>
              <a:gd name="adj" fmla="val 4444"/>
            </a:avLst>
          </a:prstGeom>
          <a:solidFill>
            <a:srgbClr val="E8F0FA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2920" y="4251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443484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outliers via IQR / Z-score</a:t>
            </a:r>
            <a:endParaRPr lang="en-US" sz="9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capping / trimming / log transform</a:t>
            </a:r>
            <a:endParaRPr lang="en-US" sz="9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skewness, spread &amp; shape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095244" y="4206240"/>
            <a:ext cx="2583180" cy="822960"/>
          </a:xfrm>
          <a:prstGeom prst="roundRect">
            <a:avLst>
              <a:gd name="adj" fmla="val 4444"/>
            </a:avLst>
          </a:prstGeom>
          <a:solidFill>
            <a:srgbClr val="E8F0FA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177540" y="4251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177540" y="4434840"/>
            <a:ext cx="2400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, numpy ,matplotlib</a:t>
            </a:r>
            <a:endParaRPr lang="en-US" sz="10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seaborn, SciPy ,scikit-learn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3063240"/>
            <a:ext cx="5788152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36208" y="3063240"/>
            <a:ext cx="5568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126480" y="3429000"/>
            <a:ext cx="578815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263640" y="3465576"/>
            <a:ext cx="5513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Distribution Before vs After Treatment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55080" y="3621024"/>
            <a:ext cx="2574036" cy="502920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263640" y="3611880"/>
            <a:ext cx="26654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Treatment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55080" y="3931920"/>
            <a:ext cx="223571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606083" y="3885590"/>
            <a:ext cx="223571" cy="7376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857086" y="3808476"/>
            <a:ext cx="223571" cy="150876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108088" y="3758184"/>
            <a:ext cx="223571" cy="201168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359091" y="3831946"/>
            <a:ext cx="223571" cy="127406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610094" y="3909060"/>
            <a:ext cx="223571" cy="5029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861097" y="3931920"/>
            <a:ext cx="223571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8112100" y="3931920"/>
            <a:ext cx="223571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8363102" y="3931920"/>
            <a:ext cx="223571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8746236" y="3950208"/>
            <a:ext cx="223571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355080" y="3977640"/>
            <a:ext cx="24825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($)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111996" y="3593592"/>
            <a:ext cx="2665476" cy="530352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9111996" y="3611880"/>
            <a:ext cx="26654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Treatment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203436" y="3924668"/>
            <a:ext cx="331143" cy="34684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9562011" y="3862236"/>
            <a:ext cx="331143" cy="97116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9920587" y="3778994"/>
            <a:ext cx="331143" cy="180358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10279162" y="3758184"/>
            <a:ext cx="331143" cy="201168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10637738" y="3813679"/>
            <a:ext cx="331143" cy="145673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996313" y="3889984"/>
            <a:ext cx="331143" cy="69368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1354889" y="3931605"/>
            <a:ext cx="331143" cy="27747"/>
          </a:xfrm>
          <a:prstGeom prst="rect">
            <a:avLst/>
          </a:prstGeom>
          <a:solidFill>
            <a:srgbClr val="3FA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9203436" y="3977640"/>
            <a:ext cx="24825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($)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263640" y="4178808"/>
            <a:ext cx="5513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Boxplot Comparison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263640" y="4343400"/>
            <a:ext cx="2665476" cy="36576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263640" y="4352544"/>
            <a:ext cx="26654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(outliers present)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823481" y="4599432"/>
            <a:ext cx="287076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773040" y="4599432"/>
            <a:ext cx="309159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823481" y="4526280"/>
            <a:ext cx="0" cy="146304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8082199" y="4526280"/>
            <a:ext cx="0" cy="146304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7110557" y="4471416"/>
            <a:ext cx="662483" cy="256032"/>
          </a:xfrm>
          <a:prstGeom prst="rect">
            <a:avLst/>
          </a:prstGeom>
          <a:solidFill>
            <a:srgbClr val="F7C59F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7419716" y="4471416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6518118" y="4581144"/>
            <a:ext cx="36576" cy="3657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6562283" y="4581144"/>
            <a:ext cx="36576" cy="3657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8549731" y="4581144"/>
            <a:ext cx="36576" cy="3657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8638062" y="4581144"/>
            <a:ext cx="36576" cy="3657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9111996" y="4343400"/>
            <a:ext cx="2665476" cy="36576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9111996" y="4352544"/>
            <a:ext cx="26654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(outliers removed)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9826417" y="4599432"/>
            <a:ext cx="220828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10577231" y="4599432"/>
            <a:ext cx="220828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9826417" y="4526280"/>
            <a:ext cx="0" cy="146304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10798058" y="4526280"/>
            <a:ext cx="0" cy="146304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10047244" y="4471416"/>
            <a:ext cx="529986" cy="256032"/>
          </a:xfrm>
          <a:prstGeom prst="rect">
            <a:avLst/>
          </a:prstGeom>
          <a:solidFill>
            <a:srgbClr val="A9D6B8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10312237" y="4471416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6263640" y="4745736"/>
            <a:ext cx="55138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Summary Statistics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263640" y="4910328"/>
            <a:ext cx="5330952" cy="123444"/>
          </a:xfrm>
          <a:prstGeom prst="rect">
            <a:avLst/>
          </a:prstGeom>
          <a:solidFill>
            <a:srgbClr val="21295C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6336792" y="4910328"/>
            <a:ext cx="213238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8396021" y="4910328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9995306" y="4910328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263640" y="5033772"/>
            <a:ext cx="5330952" cy="12344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6336792" y="5033772"/>
            <a:ext cx="213238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396021" y="5033772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412,300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9995306" y="5033772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378,600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6263640" y="5157216"/>
            <a:ext cx="5330952" cy="123444"/>
          </a:xfrm>
          <a:prstGeom prst="rect">
            <a:avLst/>
          </a:prstGeom>
          <a:solidFill>
            <a:srgbClr val="F4F6F9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6336792" y="5157216"/>
            <a:ext cx="213238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396021" y="5157216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185,900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9995306" y="5157216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96,200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263640" y="5280660"/>
            <a:ext cx="5330952" cy="12344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6336792" y="5280660"/>
            <a:ext cx="213238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396021" y="5280660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9995306" y="5280660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263640" y="5404104"/>
            <a:ext cx="5330952" cy="123444"/>
          </a:xfrm>
          <a:prstGeom prst="rect">
            <a:avLst/>
          </a:prstGeom>
          <a:solidFill>
            <a:srgbClr val="F4F6F9"/>
          </a:solidFill>
          <a:ln w="635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6336792" y="5404104"/>
            <a:ext cx="213238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(%)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8396021" y="5404104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9995306" y="5404104"/>
            <a:ext cx="159928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74320" y="5532120"/>
            <a:ext cx="2697480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384048" y="5532120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9" name="Shape 127"/>
          <p:cNvSpPr/>
          <p:nvPr/>
        </p:nvSpPr>
        <p:spPr>
          <a:xfrm>
            <a:off x="274320" y="5861304"/>
            <a:ext cx="26974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11480" y="592531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 reduces variance</a:t>
            </a:r>
            <a:endParaRPr lang="en-US" sz="900" dirty="0"/>
          </a:p>
          <a:p>
            <a:pPr marL="342900" indent="-342900"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corrects skewed distributions</a:t>
            </a:r>
            <a:endParaRPr lang="en-US" sz="900" dirty="0"/>
          </a:p>
          <a:p>
            <a:pPr marL="342900" indent="-342900"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confirm removal of</a:t>
            </a:r>
            <a:endParaRPr lang="en-US" sz="900" dirty="0"/>
          </a:p>
          <a:p>
            <a:pPr marL="342900" indent="-342900"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post-treatment</a:t>
            </a:r>
            <a:endParaRPr lang="en-US" sz="900" dirty="0"/>
          </a:p>
          <a:p>
            <a:pPr marL="342900" indent="-342900"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data improves reliability</a:t>
            </a:r>
            <a:endParaRPr lang="en-US" sz="900" dirty="0"/>
          </a:p>
          <a:p>
            <a:pPr algn="just">
              <a:lnSpc>
                <a:spcPct val="100000"/>
              </a:lnSpc>
              <a:buSzPct val="100000"/>
            </a:pP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200400" y="5532120"/>
            <a:ext cx="2697480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310128" y="5532120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3200400" y="5861304"/>
            <a:ext cx="26974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50800" dist="254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3265108" y="592531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robust ML models (RANSAC,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Forest) for detection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multivariate outliers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Mahalanobis distance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treatment thresholds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126480" y="5532120"/>
            <a:ext cx="5788152" cy="31089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6236208" y="5532120"/>
            <a:ext cx="5568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37" name="Shape 135"/>
          <p:cNvSpPr/>
          <p:nvPr/>
        </p:nvSpPr>
        <p:spPr>
          <a:xfrm>
            <a:off x="6126480" y="5861304"/>
            <a:ext cx="5788152" cy="896112"/>
          </a:xfrm>
          <a:prstGeom prst="roundRect">
            <a:avLst>
              <a:gd name="adj" fmla="val 6122"/>
            </a:avLst>
          </a:prstGeom>
          <a:solidFill>
            <a:srgbClr val="E8F0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6272784" y="5925312"/>
            <a:ext cx="54955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shifted closer to median after treatment (symmetry improved)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 dropped ~48%, indicating reduced spread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fell from 2.14 to 0.38 — near-normal shape restored</a:t>
            </a:r>
            <a:endParaRPr lang="en-US" sz="10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flagged outliers (6.8%) successfully treated with zero remaining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40" name="Picture 139" descr="Saveetha Institute of Medical and Technical Sciences -SIMATS | Chennai">
            <a:extLst>
              <a:ext uri="{FF2B5EF4-FFF2-40B4-BE49-F238E27FC236}">
                <a16:creationId xmlns:a16="http://schemas.microsoft.com/office/drawing/2014/main" id="{E5AD54B9-204A-6EAD-8B27-0AF995BA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715"/>
            <a:ext cx="949261" cy="982123"/>
          </a:xfrm>
          <a:prstGeom prst="rect">
            <a:avLst/>
          </a:prstGeom>
        </p:spPr>
      </p:pic>
      <p:pic>
        <p:nvPicPr>
          <p:cNvPr id="143" name="Picture 2">
            <a:extLst>
              <a:ext uri="{FF2B5EF4-FFF2-40B4-BE49-F238E27FC236}">
                <a16:creationId xmlns:a16="http://schemas.microsoft.com/office/drawing/2014/main" id="{18BD5B4E-9E91-43BC-845C-EEC753D61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371" y="-4573"/>
            <a:ext cx="853629" cy="96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0621034F-A84C-7129-EA2F-5730401B9AE0}"/>
              </a:ext>
            </a:extLst>
          </p:cNvPr>
          <p:cNvCxnSpPr>
            <a:stCxn id="37" idx="3"/>
          </p:cNvCxnSpPr>
          <p:nvPr/>
        </p:nvCxnSpPr>
        <p:spPr>
          <a:xfrm>
            <a:off x="1426464" y="3803904"/>
            <a:ext cx="73152" cy="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1C85CA9-C0C1-6501-2A77-721EA370E79A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2514600" y="3803904"/>
            <a:ext cx="73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043F51E7-DA28-27B1-58D8-AC9FFC6802D5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4690872" y="3803904"/>
            <a:ext cx="66751" cy="9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0B4698DD-4B27-FE8A-4963-FC779E21CC7E}"/>
              </a:ext>
            </a:extLst>
          </p:cNvPr>
          <p:cNvCxnSpPr>
            <a:cxnSpLocks/>
            <a:stCxn id="43" idx="3"/>
            <a:endCxn id="46" idx="1"/>
          </p:cNvCxnSpPr>
          <p:nvPr/>
        </p:nvCxnSpPr>
        <p:spPr>
          <a:xfrm>
            <a:off x="3602736" y="3803904"/>
            <a:ext cx="73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344</Words>
  <Application>Microsoft Office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akula reddy prasad</cp:lastModifiedBy>
  <cp:revision>2</cp:revision>
  <dcterms:created xsi:type="dcterms:W3CDTF">2026-08-18T08:36:36Z</dcterms:created>
  <dcterms:modified xsi:type="dcterms:W3CDTF">2026-08-18T09:19:17Z</dcterms:modified>
</cp:coreProperties>
</file>